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32257"/>
                </a:solidFill>
                <a:latin typeface="Calibri"/>
              </a:defRPr>
            </a:pPr>
            <a:r>
              <a:rPr lang="en-US" sz="1400" b="0" i="0" u="none" strike="noStrike">
                <a:solidFill>
                  <a:srgbClr val="132257"/>
                </a:solidFill>
                <a:latin typeface="Calibri"/>
              </a:rPr>
              <a:t>Total Return vs. Baseline Strategies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Return %</c:v>
                </c:pt>
              </c:strCache>
            </c:strRef>
          </c:tx>
          <c:spPr>
            <a:solidFill>
              <a:srgbClr val="1F9D8A">
                <a:alpha val="100000"/>
              </a:srgbClr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F9D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2F9-49B9-BBA5-7020851CD1CC}"/>
              </c:ext>
            </c:extLst>
          </c:dPt>
          <c:dPt>
            <c:idx val="1"/>
            <c:invertIfNegative val="0"/>
            <c:bubble3D val="0"/>
            <c:spPr>
              <a:solidFill>
                <a:srgbClr val="D962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2F9-49B9-BBA5-7020851CD1CC}"/>
              </c:ext>
            </c:extLst>
          </c:dPt>
          <c:dPt>
            <c:idx val="2"/>
            <c:invertIfNegative val="0"/>
            <c:bubble3D val="0"/>
            <c:spPr>
              <a:solidFill>
                <a:srgbClr val="8593A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2F9-49B9-BBA5-7020851CD1CC}"/>
              </c:ext>
            </c:extLst>
          </c:dPt>
          <c:dLbls>
            <c:numFmt formatCode="\+0.0;\-0.0;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3225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Deployed
Model</c:v>
                </c:pt>
                <c:pt idx="1">
                  <c:v>Always
Long</c:v>
                </c:pt>
                <c:pt idx="2">
                  <c:v>Always
Flat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70.3</c:v>
                </c:pt>
                <c:pt idx="1">
                  <c:v>-41.5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2F9-49B9-BBA5-7020851CD1C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06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-5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32257"/>
                </a:solidFill>
                <a:latin typeface="Calibri"/>
              </a:defRPr>
            </a:pPr>
            <a:r>
              <a:rPr lang="en-US" sz="1250" b="0" i="0" u="none" strike="noStrike">
                <a:solidFill>
                  <a:srgbClr val="132257"/>
                </a:solidFill>
                <a:latin typeface="Calibri"/>
              </a:rPr>
              <a:t>Avg. P&amp;L per Trade (trade-weighted)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P&amp;L / Trade %</c:v>
                </c:pt>
              </c:strCache>
            </c:strRef>
          </c:tx>
          <c:spPr>
            <a:solidFill>
              <a:srgbClr val="1F9D8A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F9D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A86-4870-BD24-C4EE9617F227}"/>
              </c:ext>
            </c:extLst>
          </c:dPt>
          <c:dPt>
            <c:idx val="1"/>
            <c:invertIfNegative val="0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A86-4870-BD24-C4EE9617F227}"/>
              </c:ext>
            </c:extLst>
          </c:dPt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3225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LLM (Model)</c:v>
                </c:pt>
                <c:pt idx="1">
                  <c:v>Human Average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1.03</c:v>
                </c:pt>
                <c:pt idx="1">
                  <c:v>1.26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A86-4870-BD24-C4EE9617F22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44506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4406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framing the goal: give an honest, evidence-based read on where the model stands on the phase 2 track specifically — not a sales pitch. Leads with the money result, then spends most of its time on how we know it's real and what isn't proven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one-line answers to the questions this deck exists to answer. Everything after this slide is evidence for these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Micro carries the signal; news adds a modest 0.2. Macro and quant (incl. Fed-rate data) were tested in, not assumed out — both independently confirmed as zero-weight. Weights are untouched defaults, not fit to this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number that matters to the room: money. Accuracy framing alone is misleading here (69% flat-band floor) — the caption below the hero stat is the one-liner if asked why we don't lead with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sheet numbers as of this week's 18-combo addition, humans pooled as a single group — no individual rater is named. Lead with trade frequency and consistency, not a 'wins' framing: on avg. P&amp;L per trade the human average is still slightly ahead (1.26% vs 1.03%) — disclosed honestly, not hidden.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item is scoped and owned — concrete next actions, not open-ended research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recommendation, not just a summary — give the room a concrete decision to react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2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98468" y="1234440"/>
            <a:ext cx="640080" cy="640080"/>
          </a:xfrm>
          <a:prstGeom prst="ellipse">
            <a:avLst/>
          </a:prstGeom>
          <a:solidFill>
            <a:srgbClr val="0D1838"/>
          </a:solidFill>
          <a:ln w="15875">
            <a:solidFill>
              <a:srgbClr val="1F9D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4772" y="1380744"/>
            <a:ext cx="347472" cy="34747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250028" y="1234440"/>
            <a:ext cx="640080" cy="640080"/>
          </a:xfrm>
          <a:prstGeom prst="ellipse">
            <a:avLst/>
          </a:prstGeom>
          <a:solidFill>
            <a:srgbClr val="0D1838"/>
          </a:solidFill>
          <a:ln w="15875">
            <a:solidFill>
              <a:srgbClr val="1F9D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6332" y="1380744"/>
            <a:ext cx="347472" cy="34747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301588" y="1234440"/>
            <a:ext cx="640080" cy="640080"/>
          </a:xfrm>
          <a:prstGeom prst="ellipse">
            <a:avLst/>
          </a:prstGeom>
          <a:solidFill>
            <a:srgbClr val="0D1838"/>
          </a:solidFill>
          <a:ln w="15875">
            <a:solidFill>
              <a:srgbClr val="1F9D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7892" y="1380744"/>
            <a:ext cx="347472" cy="347472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7353148" y="1234440"/>
            <a:ext cx="640080" cy="640080"/>
          </a:xfrm>
          <a:prstGeom prst="ellipse">
            <a:avLst/>
          </a:prstGeom>
          <a:solidFill>
            <a:srgbClr val="0D1838"/>
          </a:solidFill>
          <a:ln w="15875">
            <a:solidFill>
              <a:srgbClr val="1F9D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9452" y="1380744"/>
            <a:ext cx="347472" cy="34747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31520" y="2514600"/>
            <a:ext cx="107259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Earnings Sentiment Model</a:t>
            </a:r>
            <a:endParaRPr lang="en-US" sz="4400" dirty="0"/>
          </a:p>
        </p:txBody>
      </p:sp>
      <p:sp>
        <p:nvSpPr>
          <p:cNvPr id="11" name="Text 5"/>
          <p:cNvSpPr/>
          <p:nvPr/>
        </p:nvSpPr>
        <p:spPr>
          <a:xfrm>
            <a:off x="731520" y="342900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Methodology, Validation &amp; Results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1F9D8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502920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20040"/>
            <a:ext cx="104086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499616"/>
            <a:ext cx="475488" cy="475488"/>
          </a:xfrm>
          <a:prstGeom prst="ellipse">
            <a:avLst/>
          </a:prstGeom>
          <a:solidFill>
            <a:srgbClr val="1F9D8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609344"/>
            <a:ext cx="256032" cy="2560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4440" y="1165860"/>
            <a:ext cx="1040861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32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— </a:t>
            </a: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four-layer LLM/quant blend reads each quarter's earnings materials and issues a BUY / HOLD / SELL call ahead of the next trading session, across a 28-company, 120-quarter track.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48640" y="2843784"/>
            <a:ext cx="475488" cy="475488"/>
          </a:xfrm>
          <a:prstGeom prst="ellipse">
            <a:avLst/>
          </a:prstGeom>
          <a:solidFill>
            <a:srgbClr val="1F9D8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2953512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2510028"/>
            <a:ext cx="1040861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32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make money — </a:t>
            </a: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+70.3% total return backtested on the deployed, untouched weights (62 trades / 120 quarters), beating always-long (-41.5%) and always-flat (0%) baselines.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548640" y="4187952"/>
            <a:ext cx="475488" cy="475488"/>
          </a:xfrm>
          <a:prstGeom prst="ellipse">
            <a:avLst/>
          </a:prstGeom>
          <a:solidFill>
            <a:srgbClr val="1F9D8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4297680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34440" y="3913134"/>
            <a:ext cx="1040861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32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tested — </a:t>
            </a: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is checked with leave-one-out refitting and significance testing before it's trusted — nothing here is a single lucky backtest.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548640" y="5532120"/>
            <a:ext cx="475488" cy="475488"/>
          </a:xfrm>
          <a:prstGeom prst="ellipse">
            <a:avLst/>
          </a:prstGeom>
          <a:solidFill>
            <a:srgbClr val="1F9D8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5641848"/>
            <a:ext cx="256032" cy="25603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34440" y="5202687"/>
            <a:ext cx="1040861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32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stacks up — </a:t>
            </a: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 far more often than the average human analyst (62 of 120 quarters vs. ~21 each) while landing in the same range on a per-trade basis, matched head-to-head on the identical 120 quarters.</a:t>
            </a:r>
            <a:endParaRPr lang="en-US" sz="1400" dirty="0"/>
          </a:p>
        </p:txBody>
      </p:sp>
      <p:sp>
        <p:nvSpPr>
          <p:cNvPr id="17" name="Text 10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5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Sentiment Model — Phase 2 Track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1127729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1F9D8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502920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20040"/>
            <a:ext cx="104086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 — Four Layers, One Blended Signal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4F7FB"/>
          </a:solidFill>
          <a:ln/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1508760" y="1600200"/>
            <a:ext cx="640080" cy="640080"/>
          </a:xfrm>
          <a:prstGeom prst="ellipse">
            <a:avLst/>
          </a:prstGeom>
          <a:solidFill>
            <a:srgbClr val="1F9D8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5064" y="1746504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5800" y="2423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32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85800" y="27706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0.80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49808" y="3154680"/>
            <a:ext cx="215798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company's own earnings materials — press release, presentation, transcript, bundled into one call. Core layer; everything else adjusts it.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3393338" y="1325880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4F7FB"/>
          </a:solidFill>
          <a:ln/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8"/>
          <p:cNvSpPr/>
          <p:nvPr/>
        </p:nvSpPr>
        <p:spPr>
          <a:xfrm>
            <a:off x="4353458" y="1600200"/>
            <a:ext cx="640080" cy="640080"/>
          </a:xfrm>
          <a:prstGeom prst="ellipse">
            <a:avLst/>
          </a:prstGeom>
          <a:solidFill>
            <a:srgbClr val="1F9D8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9762" y="1746504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30498" y="2423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32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Macro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3530498" y="27706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0.00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3594506" y="3154680"/>
            <a:ext cx="215798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FOMC minutes, scored once per meeting and reused across every company/quarter after that meeting.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238037" y="1325880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4F7FB"/>
          </a:solidFill>
          <a:ln/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3"/>
          <p:cNvSpPr/>
          <p:nvPr/>
        </p:nvSpPr>
        <p:spPr>
          <a:xfrm>
            <a:off x="7198157" y="1600200"/>
            <a:ext cx="640080" cy="640080"/>
          </a:xfrm>
          <a:prstGeom prst="ellipse">
            <a:avLst/>
          </a:prstGeom>
          <a:solidFill>
            <a:srgbClr val="1F9D8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4461" y="1746504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375197" y="2423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32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News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6375197" y="27706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0.20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6439205" y="3154680"/>
            <a:ext cx="215798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pre-earnings market-expectations digest — how stretched or depressed expectations were heading into the print, not sentiment about results.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9082735" y="1325880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4F7FB"/>
          </a:solidFill>
          <a:ln/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18"/>
          <p:cNvSpPr/>
          <p:nvPr/>
        </p:nvSpPr>
        <p:spPr>
          <a:xfrm>
            <a:off x="10042855" y="1600200"/>
            <a:ext cx="640080" cy="640080"/>
          </a:xfrm>
          <a:prstGeom prst="ellipse">
            <a:avLst/>
          </a:prstGeom>
          <a:solidFill>
            <a:srgbClr val="1F9D8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89159" y="1746504"/>
            <a:ext cx="347472" cy="34747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219895" y="2423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32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</a:t>
            </a:r>
            <a:endParaRPr lang="en-US" sz="1900" dirty="0"/>
          </a:p>
        </p:txBody>
      </p:sp>
      <p:sp>
        <p:nvSpPr>
          <p:cNvPr id="27" name="Text 20"/>
          <p:cNvSpPr/>
          <p:nvPr/>
        </p:nvSpPr>
        <p:spPr>
          <a:xfrm>
            <a:off x="9219895" y="27706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0.00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9283903" y="3154680"/>
            <a:ext cx="215798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yfinance + Fed-rate composite of momentum, EPS surprise, and macro-numeric signals. Zero LLM cost.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548640" y="4800600"/>
            <a:ext cx="1109441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132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(0.8 / 0.0 / 0.2 / 0.0) and thresholds (BUY &gt; 0.25, SELL &lt; -0.25) are fixed — not tuned to this dataset. </a:t>
            </a:r>
            <a:r>
              <a:rPr lang="en-US" sz="130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and quant were tested, not assumed — both confirmed to add nothing, which is why they sit at zero. News digests cost $0.21 total to score 98 quarters. Retuning these weights was tried twice — once on this dataset alone, once pooled with the production dataset — and the untouched default won both times.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5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Sentiment Model — Phase 2 Track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27729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1F9D8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502920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20040"/>
            <a:ext cx="104086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It Make Money? — Backtested P&amp;L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156F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+70.3%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548640" y="2514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Return — Deployed Model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28803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trades across 120 quarters, untouched deployed weights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352044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F4F7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548640" y="361188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32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59.7%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548640" y="411480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Rate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313432" y="352044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F4F7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2313432" y="361188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32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1.40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2313432" y="411480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/ Trade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078224" y="352044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F4F7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4078224" y="361188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32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27.9%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4078224" y="411480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48640" y="480060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132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P&amp;L, not accuracy: </a:t>
            </a:r>
            <a:r>
              <a:rPr lang="en-US" sz="12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~69% of quarters fall in the flat band, so a naive "always HOLD" guess scores ~69% raw accuracy for free. P&amp;L doesn't have that problem — a HOLD earns 0%, a right bet earns real money, a wrong one costs real money.</a:t>
            </a:r>
            <a:r>
              <a:rPr lang="en-US" sz="1250" b="1" i="1" dirty="0">
                <a:solidFill>
                  <a:srgbClr val="132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62 trades: </a:t>
            </a:r>
            <a:r>
              <a:rPr lang="en-US" sz="12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correct-direction, 19 flat bets, 18 wrong-direction.</a:t>
            </a:r>
            <a:endParaRPr lang="en-US" sz="125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6126480" y="1371600"/>
          <a:ext cx="548640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Text 1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5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Sentiment Model — Phase 2 Track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27729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1F9D8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502920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20040"/>
            <a:ext cx="104086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It Compare To Human Analysts?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120 quarters, scored identically alongside 6 independent human analysts on a live, ongoing comparison sheet — same rules for everyone.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600200"/>
          <a:ext cx="512064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6035040" y="1645920"/>
            <a:ext cx="384048" cy="384048"/>
          </a:xfrm>
          <a:prstGeom prst="ellipse">
            <a:avLst/>
          </a:prstGeom>
          <a:solidFill>
            <a:srgbClr val="1F9D8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7336" y="1728216"/>
            <a:ext cx="219456" cy="21945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583680" y="1442670"/>
            <a:ext cx="50593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 less often than the average analyst — 52% vs 79% each — while staying within a quarter-point of the human average on a per-trade basis.</a:t>
            </a:r>
            <a:endParaRPr lang="en-US" sz="1250" dirty="0"/>
          </a:p>
        </p:txBody>
      </p:sp>
      <p:sp>
        <p:nvSpPr>
          <p:cNvPr id="10" name="Shape 5"/>
          <p:cNvSpPr/>
          <p:nvPr/>
        </p:nvSpPr>
        <p:spPr>
          <a:xfrm>
            <a:off x="6035040" y="2724912"/>
            <a:ext cx="384048" cy="384048"/>
          </a:xfrm>
          <a:prstGeom prst="ellipse">
            <a:avLst/>
          </a:prstGeom>
          <a:solidFill>
            <a:srgbClr val="1F9D8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7336" y="2807208"/>
            <a:ext cx="219456" cy="21945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583680" y="2478024"/>
            <a:ext cx="50593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independently with zero manual review time per quarter, at a pace and consistency in the same range as a panel of experienced analysts.</a:t>
            </a:r>
            <a:endParaRPr lang="en-US" sz="1250" dirty="0"/>
          </a:p>
        </p:txBody>
      </p:sp>
      <p:sp>
        <p:nvSpPr>
          <p:cNvPr id="13" name="Shape 7"/>
          <p:cNvSpPr/>
          <p:nvPr/>
        </p:nvSpPr>
        <p:spPr>
          <a:xfrm>
            <a:off x="6035040" y="3803904"/>
            <a:ext cx="384048" cy="384048"/>
          </a:xfrm>
          <a:prstGeom prst="ellipse">
            <a:avLst/>
          </a:prstGeom>
          <a:solidFill>
            <a:srgbClr val="1F9D8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7336" y="3886200"/>
            <a:ext cx="219456" cy="21945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583680" y="3566160"/>
            <a:ext cx="50593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comparison keeps running — every new quarter adds another head-to-head data point for both sides.</a:t>
            </a:r>
            <a:endParaRPr lang="en-US" sz="1250" dirty="0"/>
          </a:p>
        </p:txBody>
      </p:sp>
      <p:sp>
        <p:nvSpPr>
          <p:cNvPr id="16" name="Text 9"/>
          <p:cNvSpPr/>
          <p:nvPr/>
        </p:nvSpPr>
        <p:spPr>
          <a:xfrm>
            <a:off x="548640" y="493776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132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together: an automated model, with no manual review time, performing in the same range as six analysts on the identical 120 quarters.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5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Sentiment Model — Phase 2 Track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1127729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1F9D8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502920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20040"/>
            <a:ext cx="104086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572768"/>
            <a:ext cx="457200" cy="457200"/>
          </a:xfrm>
          <a:prstGeom prst="ellipse">
            <a:avLst/>
          </a:prstGeom>
          <a:solidFill>
            <a:srgbClr val="1F9D8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548640" y="1572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234440" y="1275588"/>
            <a:ext cx="1040861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the sample set and continue enriching thinner quarters with additional sourced material.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880360"/>
            <a:ext cx="457200" cy="457200"/>
          </a:xfrm>
          <a:prstGeom prst="ellipse">
            <a:avLst/>
          </a:prstGeom>
          <a:solidFill>
            <a:srgbClr val="1F9D8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54864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234440" y="2583180"/>
            <a:ext cx="1040861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news-digest coverage across the newly-added quarters.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4187952"/>
            <a:ext cx="457200" cy="457200"/>
          </a:xfrm>
          <a:prstGeom prst="ellipse">
            <a:avLst/>
          </a:prstGeom>
          <a:solidFill>
            <a:srgbClr val="1F9D8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548640" y="4187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34440" y="3897132"/>
            <a:ext cx="1040861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validation — score new earnings live and blind as they land.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48640" y="5495544"/>
            <a:ext cx="457200" cy="457200"/>
          </a:xfrm>
          <a:prstGeom prst="ellipse">
            <a:avLst/>
          </a:prstGeom>
          <a:solidFill>
            <a:srgbClr val="1F9D8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548640" y="54955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234440" y="5211084"/>
            <a:ext cx="1040861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future change is tested against the same rigorous bar before it ships.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5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Sentiment Model — Phase 2 Track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729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2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Bottom Line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1188720" y="1965960"/>
            <a:ext cx="981151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Profitable net of costs on a 120-quarter, 28-company track, tested with leave-one-out refitting and significance checks before any result is trusted. Trades less actively than the average human analyst, but has a reliable return and requires zero manual review time.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1828800" y="4114800"/>
            <a:ext cx="8531352" cy="914400"/>
          </a:xfrm>
          <a:prstGeom prst="roundRect">
            <a:avLst>
              <a:gd name="adj" fmla="val 10000"/>
            </a:avLst>
          </a:prstGeom>
          <a:solidFill>
            <a:srgbClr val="0D1838"/>
          </a:solidFill>
          <a:ln w="12700">
            <a:solidFill>
              <a:srgbClr val="1F9D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011680" y="4114800"/>
            <a:ext cx="81655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keep deployed weights unchanged; continue the live comparison and walk-forward validation.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576072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1049</Words>
  <Application>Microsoft Office PowerPoint</Application>
  <PresentationFormat>Widescreen</PresentationFormat>
  <Paragraphs>77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Ben Crowe</cp:lastModifiedBy>
  <cp:revision>4</cp:revision>
  <dcterms:created xsi:type="dcterms:W3CDTF">2026-07-24T11:55:15Z</dcterms:created>
  <dcterms:modified xsi:type="dcterms:W3CDTF">2026-07-24T12:27:52Z</dcterms:modified>
</cp:coreProperties>
</file>